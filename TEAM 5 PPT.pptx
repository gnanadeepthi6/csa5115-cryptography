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9" r:id="rId4"/>
    <p:sldId id="263" r:id="rId5"/>
    <p:sldId id="264" r:id="rId6"/>
    <p:sldId id="272" r:id="rId7"/>
    <p:sldId id="271" r:id="rId8"/>
    <p:sldId id="265" r:id="rId9"/>
    <p:sldId id="258" r:id="rId10"/>
    <p:sldId id="259" r:id="rId11"/>
    <p:sldId id="260" r:id="rId12"/>
    <p:sldId id="277" r:id="rId13"/>
    <p:sldId id="279" r:id="rId14"/>
    <p:sldId id="274" r:id="rId15"/>
    <p:sldId id="275" r:id="rId16"/>
    <p:sldId id="276" r:id="rId17"/>
    <p:sldId id="273" r:id="rId18"/>
    <p:sldId id="280" r:id="rId19"/>
    <p:sldId id="278" r:id="rId20"/>
    <p:sldId id="267" r:id="rId21"/>
    <p:sldId id="266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621D9-13B4-42D8-B9F6-B7E077890370}" v="7" dt="2026-08-31T05:27:51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tha Ramesh" userId="2f3edb43bc6776d8" providerId="LiveId" clId="{821F58E0-4CC4-4EDD-A1D6-D543C21BF0A7}"/>
    <pc:docChg chg="custSel addSld delSld modSld sldOrd">
      <pc:chgData name="Akshitha Ramesh" userId="2f3edb43bc6776d8" providerId="LiveId" clId="{821F58E0-4CC4-4EDD-A1D6-D543C21BF0A7}" dt="2026-08-31T05:31:08.121" v="83"/>
      <pc:docMkLst>
        <pc:docMk/>
      </pc:docMkLst>
      <pc:sldChg chg="del">
        <pc:chgData name="Akshitha Ramesh" userId="2f3edb43bc6776d8" providerId="LiveId" clId="{821F58E0-4CC4-4EDD-A1D6-D543C21BF0A7}" dt="2026-08-31T05:28:14.016" v="79" actId="2696"/>
        <pc:sldMkLst>
          <pc:docMk/>
          <pc:sldMk cId="3717206168" sldId="262"/>
        </pc:sldMkLst>
      </pc:sldChg>
      <pc:sldChg chg="ord">
        <pc:chgData name="Akshitha Ramesh" userId="2f3edb43bc6776d8" providerId="LiveId" clId="{821F58E0-4CC4-4EDD-A1D6-D543C21BF0A7}" dt="2026-08-31T05:31:05.302" v="81"/>
        <pc:sldMkLst>
          <pc:docMk/>
          <pc:sldMk cId="3801245032" sldId="274"/>
        </pc:sldMkLst>
      </pc:sldChg>
      <pc:sldChg chg="ord">
        <pc:chgData name="Akshitha Ramesh" userId="2f3edb43bc6776d8" providerId="LiveId" clId="{821F58E0-4CC4-4EDD-A1D6-D543C21BF0A7}" dt="2026-08-31T05:31:08.121" v="83"/>
        <pc:sldMkLst>
          <pc:docMk/>
          <pc:sldMk cId="1001832261" sldId="275"/>
        </pc:sldMkLst>
      </pc:sldChg>
      <pc:sldChg chg="modSp add mod ord">
        <pc:chgData name="Akshitha Ramesh" userId="2f3edb43bc6776d8" providerId="LiveId" clId="{821F58E0-4CC4-4EDD-A1D6-D543C21BF0A7}" dt="2026-08-31T05:18:24.406" v="56" actId="114"/>
        <pc:sldMkLst>
          <pc:docMk/>
          <pc:sldMk cId="3828828398" sldId="277"/>
        </pc:sldMkLst>
        <pc:spChg chg="mod">
          <ac:chgData name="Akshitha Ramesh" userId="2f3edb43bc6776d8" providerId="LiveId" clId="{821F58E0-4CC4-4EDD-A1D6-D543C21BF0A7}" dt="2026-08-31T05:12:07.877" v="27" actId="20577"/>
          <ac:spMkLst>
            <pc:docMk/>
            <pc:sldMk cId="3828828398" sldId="277"/>
            <ac:spMk id="2" creationId="{2407D446-9F4E-B131-A35C-0682ABCE8532}"/>
          </ac:spMkLst>
        </pc:spChg>
        <pc:spChg chg="mod">
          <ac:chgData name="Akshitha Ramesh" userId="2f3edb43bc6776d8" providerId="LiveId" clId="{821F58E0-4CC4-4EDD-A1D6-D543C21BF0A7}" dt="2026-08-31T05:18:24.406" v="56" actId="114"/>
          <ac:spMkLst>
            <pc:docMk/>
            <pc:sldMk cId="3828828398" sldId="277"/>
            <ac:spMk id="3" creationId="{9240F138-A108-9F18-13F1-C76688797A4A}"/>
          </ac:spMkLst>
        </pc:spChg>
      </pc:sldChg>
      <pc:sldChg chg="add">
        <pc:chgData name="Akshitha Ramesh" userId="2f3edb43bc6776d8" providerId="LiveId" clId="{821F58E0-4CC4-4EDD-A1D6-D543C21BF0A7}" dt="2026-08-31T05:11:54.541" v="18" actId="2890"/>
        <pc:sldMkLst>
          <pc:docMk/>
          <pc:sldMk cId="1972351926" sldId="278"/>
        </pc:sldMkLst>
      </pc:sldChg>
      <pc:sldChg chg="modSp add mod">
        <pc:chgData name="Akshitha Ramesh" userId="2f3edb43bc6776d8" providerId="LiveId" clId="{821F58E0-4CC4-4EDD-A1D6-D543C21BF0A7}" dt="2026-08-31T05:19:47.747" v="63"/>
        <pc:sldMkLst>
          <pc:docMk/>
          <pc:sldMk cId="2766195170" sldId="279"/>
        </pc:sldMkLst>
        <pc:spChg chg="mod">
          <ac:chgData name="Akshitha Ramesh" userId="2f3edb43bc6776d8" providerId="LiveId" clId="{821F58E0-4CC4-4EDD-A1D6-D543C21BF0A7}" dt="2026-08-31T05:19:47.747" v="63"/>
          <ac:spMkLst>
            <pc:docMk/>
            <pc:sldMk cId="2766195170" sldId="279"/>
            <ac:spMk id="3" creationId="{1EDC8535-8083-BE61-047E-478758EA04CF}"/>
          </ac:spMkLst>
        </pc:spChg>
      </pc:sldChg>
      <pc:sldChg chg="modSp add mod">
        <pc:chgData name="Akshitha Ramesh" userId="2f3edb43bc6776d8" providerId="LiveId" clId="{821F58E0-4CC4-4EDD-A1D6-D543C21BF0A7}" dt="2026-08-31T05:28:00.388" v="78" actId="12"/>
        <pc:sldMkLst>
          <pc:docMk/>
          <pc:sldMk cId="1190785957" sldId="280"/>
        </pc:sldMkLst>
        <pc:spChg chg="mod">
          <ac:chgData name="Akshitha Ramesh" userId="2f3edb43bc6776d8" providerId="LiveId" clId="{821F58E0-4CC4-4EDD-A1D6-D543C21BF0A7}" dt="2026-08-31T05:27:46.190" v="76" actId="20577"/>
          <ac:spMkLst>
            <pc:docMk/>
            <pc:sldMk cId="1190785957" sldId="280"/>
            <ac:spMk id="2" creationId="{5FEED492-EAA3-4F0E-30CC-A9EE44BC2B8B}"/>
          </ac:spMkLst>
        </pc:spChg>
        <pc:spChg chg="mod">
          <ac:chgData name="Akshitha Ramesh" userId="2f3edb43bc6776d8" providerId="LiveId" clId="{821F58E0-4CC4-4EDD-A1D6-D543C21BF0A7}" dt="2026-08-31T05:28:00.388" v="78" actId="12"/>
          <ac:spMkLst>
            <pc:docMk/>
            <pc:sldMk cId="1190785957" sldId="280"/>
            <ac:spMk id="11" creationId="{8132A871-DDC7-27B1-1EED-4AB9C468FA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1AD77-D6AB-4FB0-85E8-2BF9AC6DEED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10A5F-B5D9-45F8-A3B1-DDB0583CC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901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10A5F-B5D9-45F8-A3B1-DDB0583CC4A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785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FA8A-B2D5-00AA-BA0E-3F482F181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0A643-F364-9339-EF7C-A712FD463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DB03C-42A2-539A-A690-E4B5DD6D7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9F1B-E54C-40A6-87DF-7FF140073ED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AE98C-469D-EDB4-7023-AAA9A7CE0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6E79F-B211-A1DE-34EB-2F2641E5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BF04-106E-45F5-8A60-70559D3EA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78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9F09C-99A6-9373-1D1F-5502C5890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90DC7-493C-A6A9-0811-141F92399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71CF1-7922-7C6C-8632-9153575C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9F1B-E54C-40A6-87DF-7FF140073ED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1BC0B-2468-86C4-99F7-D5D2719C7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C6402-3CFE-2372-EC0B-82687800B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BF04-106E-45F5-8A60-70559D3EA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831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3D92E-4870-4002-67DF-8F057EBDF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6CF78-5944-750D-373A-438DD95E9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93B62-B084-2B61-6158-0EEC92A85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9F1B-E54C-40A6-87DF-7FF140073ED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98554-99DE-E2BD-08DC-2DA4E080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542B4-1935-1AE7-0767-28A9665A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BF04-106E-45F5-8A60-70559D3EA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0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1E617-6290-9D12-00BA-8DE998DBE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B9E3B-0008-3388-112A-0C080C577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6F7CF-DB1D-F99C-DAD0-67EFE5111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20DB4-4CC3-123A-0019-A6C46573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9F1B-E54C-40A6-87DF-7FF140073ED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A349A-0EE0-4A29-E96E-DF7DA573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84734-96C2-5CEB-CB08-EA76815F8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BF04-106E-45F5-8A60-70559D3EA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735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394BC-9DE4-6DEF-6C22-032792FA7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5BB17-265B-366D-0F60-7DF3F5858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AF60-62C7-DB2F-80F6-9A55811C8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6891D-820A-DCAB-3CFF-A640BD215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2DD37F-2778-5DCF-9330-0B6E0F04C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0AEA59-31EC-49EE-415A-48664DB06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9F1B-E54C-40A6-87DF-7FF140073ED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A91882-0F69-D807-0927-09A4AC88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F44AFE-2015-B48D-1D87-54D2D661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BF04-106E-45F5-8A60-70559D3EA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434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935A-A06F-8137-48CD-2D87D03C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3098E-E66C-2B64-ECDA-C32C2E90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9F1B-E54C-40A6-87DF-7FF140073ED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AC8C8-FCEF-8F29-9419-417B4C48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F5807-6638-8AB6-C5E4-083AACF69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BF04-106E-45F5-8A60-70559D3EA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70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F544B-9905-DB94-EC33-8C1CCE81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9F1B-E54C-40A6-87DF-7FF140073ED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525A88-EA4F-B34D-4E46-A9336C9E3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2688F-4926-4B9C-1207-5229453B6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BF04-106E-45F5-8A60-70559D3EA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5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04E9-F393-0CB2-AD54-7E01ADA9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41893-39F6-C12D-1C01-A59B05AFE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C8368-1233-BF68-F506-82B45E669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F1756-5E75-6983-AC14-BFF176A6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9F1B-E54C-40A6-87DF-7FF140073ED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4BE1E-BD43-BFBB-71F3-68822D072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7EC64-D75C-3B7A-1B5D-08758187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BF04-106E-45F5-8A60-70559D3EA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138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B038E-631F-CDEE-AAB4-BAAA16494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4E2137-02B5-68C4-C1CD-C02C877AA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40F05-7059-2E5D-C71B-0C9DE6AB8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55575-0C0D-2C33-2A82-025805C3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9F1B-E54C-40A6-87DF-7FF140073ED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5133A-4479-F9DF-F555-314D574C4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DF7C0-4E72-8405-807D-5C383957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BF04-106E-45F5-8A60-70559D3EA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68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DB89-BE7D-EBF6-0EDB-B6E19509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82869-CD03-1284-AD43-7C0279DDB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4C6C-48D8-D0FC-4F91-F48FD5722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9F1B-E54C-40A6-87DF-7FF140073ED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A4EB1-A90C-6D22-7378-57B794DF8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43CD-304F-C7C1-D800-B97F0FF8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BF04-106E-45F5-8A60-70559D3EA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948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64F1A-4C05-56A0-32DF-31832C3080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23164-970B-607E-2D98-B4F4A8B45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FB3D2-7552-0085-FD82-93CA3AC9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9F1B-E54C-40A6-87DF-7FF140073ED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1964E-11C8-9840-3685-ABCC29E5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08F2D-5DF9-6E8B-92E7-45D46D50B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EBF04-106E-45F5-8A60-70559D3EA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7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5574A-7479-B9B9-9E75-F06A499B6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4B191-38E5-C290-90FD-80EC0EEA5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F4F63-BC43-3FE5-250D-F8229F06C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09F1B-E54C-40A6-87DF-7FF140073EDA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979F5-D035-1168-1702-C780A93DF1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71FCE-A807-004E-FEC0-90D61C5AB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EBF04-106E-45F5-8A60-70559D3EA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5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AEE77346-CC9C-4C7A-FDA5-44B32F3CF23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8442"/>
            <a:ext cx="11994931" cy="1123156"/>
          </a:xfrm>
          <a:prstGeom prst="rect">
            <a:avLst/>
          </a:prstGeom>
        </p:spPr>
      </p:pic>
      <p:sp>
        <p:nvSpPr>
          <p:cNvPr id="6" name="object 3" descr="$PPTXTitle">
            <a:extLst>
              <a:ext uri="{FF2B5EF4-FFF2-40B4-BE49-F238E27FC236}">
                <a16:creationId xmlns:a16="http://schemas.microsoft.com/office/drawing/2014/main" id="{80D98735-0C79-21F2-4A87-A97B998686E1}"/>
              </a:ext>
            </a:extLst>
          </p:cNvPr>
          <p:cNvSpPr txBox="1">
            <a:spLocks/>
          </p:cNvSpPr>
          <p:nvPr/>
        </p:nvSpPr>
        <p:spPr>
          <a:xfrm>
            <a:off x="0" y="1809570"/>
            <a:ext cx="12192000" cy="44323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/>
              <a:t>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CSA5115 – CRYPTOGRAPHY AND NETWORK SECURITY 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62DE261F-CFE7-6F24-77DB-7EC61F43AFF7}"/>
              </a:ext>
            </a:extLst>
          </p:cNvPr>
          <p:cNvSpPr txBox="1"/>
          <p:nvPr/>
        </p:nvSpPr>
        <p:spPr>
          <a:xfrm>
            <a:off x="0" y="2646819"/>
            <a:ext cx="12192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28390" marR="5080" indent="-3616325" algn="ctr">
              <a:spcBef>
                <a:spcPts val="730"/>
              </a:spcBef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Ransomware Detection and Prevention System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E284FC74-7F6F-9147-4533-13C58FE7009A}"/>
              </a:ext>
            </a:extLst>
          </p:cNvPr>
          <p:cNvSpPr txBox="1"/>
          <p:nvPr/>
        </p:nvSpPr>
        <p:spPr>
          <a:xfrm>
            <a:off x="1447800" y="4318391"/>
            <a:ext cx="3365932" cy="309059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28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1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lang="en-IN" sz="1800" b="1" spc="-25" dirty="0">
                <a:latin typeface="Times New Roman" panose="02020603050405020304"/>
                <a:cs typeface="Times New Roman" panose="02020603050405020304"/>
              </a:rPr>
              <a:t>:</a:t>
            </a:r>
          </a:p>
          <a:p>
            <a:pPr marL="237490">
              <a:lnSpc>
                <a:spcPct val="100000"/>
              </a:lnSpc>
              <a:spcBef>
                <a:spcPts val="1280"/>
              </a:spcBef>
            </a:pPr>
            <a:r>
              <a:rPr lang="en-IN" spc="-25" dirty="0">
                <a:latin typeface="Times New Roman" panose="02020603050405020304"/>
                <a:cs typeface="Times New Roman" panose="02020603050405020304"/>
              </a:rPr>
              <a:t>D. Gnana Deepthi (192411123)</a:t>
            </a:r>
          </a:p>
          <a:p>
            <a:pPr marL="237490">
              <a:lnSpc>
                <a:spcPct val="100000"/>
              </a:lnSpc>
              <a:spcBef>
                <a:spcPts val="1280"/>
              </a:spcBef>
            </a:pPr>
            <a:r>
              <a:rPr lang="en-IN" spc="-25" dirty="0">
                <a:latin typeface="Times New Roman" panose="02020603050405020304"/>
                <a:cs typeface="Times New Roman" panose="02020603050405020304"/>
              </a:rPr>
              <a:t>Akshitha T.R (192521349)</a:t>
            </a:r>
          </a:p>
          <a:p>
            <a:pPr marL="237490">
              <a:lnSpc>
                <a:spcPct val="100000"/>
              </a:lnSpc>
              <a:spcBef>
                <a:spcPts val="1280"/>
              </a:spcBef>
            </a:pPr>
            <a:r>
              <a:rPr lang="en-IN" spc="-25" dirty="0">
                <a:latin typeface="Times New Roman" panose="02020603050405020304"/>
                <a:cs typeface="Times New Roman" panose="02020603050405020304"/>
              </a:rPr>
              <a:t>V. Maduri Priya(192311368)</a:t>
            </a:r>
          </a:p>
          <a:p>
            <a:pPr marL="237490">
              <a:lnSpc>
                <a:spcPct val="100000"/>
              </a:lnSpc>
              <a:spcBef>
                <a:spcPts val="1280"/>
              </a:spcBef>
            </a:pPr>
            <a:endParaRPr lang="en-IN" spc="-25" dirty="0">
              <a:latin typeface="Times New Roman" panose="02020603050405020304"/>
              <a:cs typeface="Times New Roman" panose="02020603050405020304"/>
            </a:endParaRPr>
          </a:p>
          <a:p>
            <a:pPr marL="237490">
              <a:lnSpc>
                <a:spcPct val="100000"/>
              </a:lnSpc>
              <a:spcBef>
                <a:spcPts val="1280"/>
              </a:spcBef>
            </a:pP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4F677D0C-C344-54BB-212E-6CA64D4104C5}"/>
              </a:ext>
            </a:extLst>
          </p:cNvPr>
          <p:cNvSpPr txBox="1"/>
          <p:nvPr/>
        </p:nvSpPr>
        <p:spPr>
          <a:xfrm>
            <a:off x="8839120" y="5029123"/>
            <a:ext cx="2038350" cy="68608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GUIDED</a:t>
            </a:r>
            <a:r>
              <a:rPr sz="2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lang="en-IN" sz="2000" b="1" spc="-25" dirty="0">
                <a:latin typeface="Times New Roman" panose="02020603050405020304"/>
                <a:cs typeface="Times New Roman" panose="02020603050405020304"/>
              </a:rPr>
              <a:t>:</a:t>
            </a: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lang="en-IN" sz="2000" spc="-25" dirty="0">
                <a:latin typeface="Times New Roman" panose="02020603050405020304"/>
                <a:cs typeface="Times New Roman" panose="02020603050405020304"/>
              </a:rPr>
              <a:t>Sangeetha T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084518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4D4F-6069-EDE6-4643-5768C1F9B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19" y="50006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AE487-2129-1193-A705-49FB40627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IN" sz="2400" dirty="0"/>
              <a:t>Ransomware is a major cybersecurity threat that can encrypt and damage user files. The Ransomware Detection and Prevention System detects suspicious activities using file activity monitoring, malware signature detection, and encryption </a:t>
            </a:r>
            <a:r>
              <a:rPr lang="en-IN" sz="2400" dirty="0" err="1"/>
              <a:t>behavior</a:t>
            </a:r>
            <a:r>
              <a:rPr lang="en-IN" sz="2400" dirty="0"/>
              <a:t> analysis. When ransomware-like </a:t>
            </a:r>
            <a:r>
              <a:rPr lang="en-IN" sz="2400" dirty="0" err="1"/>
              <a:t>behavior</a:t>
            </a:r>
            <a:r>
              <a:rPr lang="en-IN" sz="2400" dirty="0"/>
              <a:t> is identified, the system helps prevent further malicious activity and generates alerts. The system provides an additional layer of protection against both known and suspicious ransomware activities. This provides a practical approach to protect files and reduce the impact of ransomware attacks.</a:t>
            </a:r>
            <a:endParaRPr lang="en-IN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6F9E29CF-FF40-6CE3-5507-E1091A073F0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45A6B689-A2BF-2EB5-7FF9-7B2710EFA3A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3744" y="191626"/>
            <a:ext cx="1520112" cy="134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872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702C0-A966-C92F-BA63-E0B2A1DD1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AEA3-F8DA-4985-8F66-443EEC21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19" y="50006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90DD8-F696-92EC-44B4-34208F47F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algn="just">
              <a:lnSpc>
                <a:spcPct val="200000"/>
              </a:lnSpc>
            </a:pPr>
            <a:r>
              <a:rPr lang="en-IN" sz="2400" dirty="0"/>
              <a:t>Ransomware is a type of malware that restricts access to user data. </a:t>
            </a:r>
          </a:p>
          <a:p>
            <a:pPr lvl="0" algn="just">
              <a:lnSpc>
                <a:spcPct val="200000"/>
              </a:lnSpc>
            </a:pPr>
            <a:r>
              <a:rPr lang="en-IN" sz="2400" dirty="0"/>
              <a:t>It can rapidly modify and encrypt files on a system. </a:t>
            </a:r>
          </a:p>
          <a:p>
            <a:pPr lvl="0" algn="just">
              <a:lnSpc>
                <a:spcPct val="200000"/>
              </a:lnSpc>
            </a:pPr>
            <a:r>
              <a:rPr lang="en-IN" sz="2400" dirty="0"/>
              <a:t>Traditional security methods may not detect new ransomware variants effectively. </a:t>
            </a:r>
          </a:p>
          <a:p>
            <a:pPr lvl="0" algn="just">
              <a:lnSpc>
                <a:spcPct val="200000"/>
              </a:lnSpc>
            </a:pPr>
            <a:r>
              <a:rPr lang="en-IN" sz="2400" dirty="0"/>
              <a:t>Monitoring file activity and </a:t>
            </a:r>
            <a:r>
              <a:rPr lang="en-IN" sz="2400" dirty="0" err="1"/>
              <a:t>analyzing</a:t>
            </a:r>
            <a:r>
              <a:rPr lang="en-IN" sz="2400" dirty="0"/>
              <a:t> malicious </a:t>
            </a:r>
            <a:r>
              <a:rPr lang="en-IN" sz="2400" dirty="0" err="1"/>
              <a:t>behavior</a:t>
            </a:r>
            <a:r>
              <a:rPr lang="en-IN" sz="2400" dirty="0"/>
              <a:t> can help identify threats early. </a:t>
            </a:r>
          </a:p>
          <a:p>
            <a:pPr lvl="0" algn="just">
              <a:lnSpc>
                <a:spcPct val="200000"/>
              </a:lnSpc>
            </a:pPr>
            <a:r>
              <a:rPr lang="en-IN" sz="2400" dirty="0"/>
              <a:t>The proposed system combines multiple detection techniques for ransomware prevention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DB852437-71A0-FEAA-7D9B-62E47BE7F1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45808714-E603-258C-BBA4-2619B1B06BC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3744" y="191626"/>
            <a:ext cx="1520112" cy="134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8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50C1C-35D7-B339-4389-13111B86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D0A08-5906-A13B-E8FC-3EF386FAE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19" y="50006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04528-F282-06C3-C5D6-42C620ACB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IN" sz="2400" dirty="0"/>
              <a:t>Ransomware can rapidly affect a large number of files.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/>
              <a:t>Unknown ransomware variants may bypass traditional signature-based detection.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/>
              <a:t>Abnormal file activity and encryption </a:t>
            </a:r>
            <a:r>
              <a:rPr lang="en-IN" sz="2400" dirty="0" err="1"/>
              <a:t>behavior</a:t>
            </a:r>
            <a:r>
              <a:rPr lang="en-IN" sz="2400" dirty="0"/>
              <a:t> need continuous monitoring.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/>
              <a:t>Known ransomware threats require effective signature-based identification.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/>
              <a:t>Delayed detection can increase data loss and system impact.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/>
              <a:t>A real-time system is required to detect suspicious </a:t>
            </a:r>
            <a:r>
              <a:rPr lang="en-IN" sz="2400" dirty="0" err="1"/>
              <a:t>behavior</a:t>
            </a:r>
            <a:r>
              <a:rPr lang="en-IN" sz="2400" dirty="0"/>
              <a:t> and prevent further damage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D0CEC3C5-6307-4B37-B560-BAC94DF8C3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77C27FD0-90AB-C580-D493-C1E3FA34748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3744" y="191626"/>
            <a:ext cx="1520112" cy="134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56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5D467-2469-C9EA-605A-DDC0810DA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54EBB-B3CC-0EDB-9581-B320AE7FB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19" y="50006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7F4AA-D4A5-2E46-ED10-FE1C5A36B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200000"/>
              </a:lnSpc>
            </a:pPr>
            <a:r>
              <a:rPr lang="en-IN" sz="2400" dirty="0"/>
              <a:t>To monitor file activities for suspicious </a:t>
            </a:r>
            <a:r>
              <a:rPr lang="en-IN" sz="2400" dirty="0" err="1"/>
              <a:t>behavior</a:t>
            </a:r>
            <a:r>
              <a:rPr lang="en-IN" sz="2400" dirty="0"/>
              <a:t>. </a:t>
            </a:r>
          </a:p>
          <a:p>
            <a:pPr lvl="0" algn="just">
              <a:lnSpc>
                <a:spcPct val="200000"/>
              </a:lnSpc>
            </a:pPr>
            <a:r>
              <a:rPr lang="en-IN" sz="2400" dirty="0"/>
              <a:t>To detect known ransomware using malware signatures. </a:t>
            </a:r>
          </a:p>
          <a:p>
            <a:pPr lvl="0" algn="just">
              <a:lnSpc>
                <a:spcPct val="200000"/>
              </a:lnSpc>
            </a:pPr>
            <a:r>
              <a:rPr lang="en-IN" sz="2400" dirty="0"/>
              <a:t>To </a:t>
            </a:r>
            <a:r>
              <a:rPr lang="en-IN" sz="2400" dirty="0" err="1"/>
              <a:t>analyze</a:t>
            </a:r>
            <a:r>
              <a:rPr lang="en-IN" sz="2400" dirty="0"/>
              <a:t> abnormal encryption </a:t>
            </a:r>
            <a:r>
              <a:rPr lang="en-IN" sz="2400" dirty="0" err="1"/>
              <a:t>behavior</a:t>
            </a:r>
            <a:r>
              <a:rPr lang="en-IN" sz="2400" dirty="0"/>
              <a:t>. </a:t>
            </a:r>
          </a:p>
          <a:p>
            <a:pPr lvl="0" algn="just">
              <a:lnSpc>
                <a:spcPct val="200000"/>
              </a:lnSpc>
            </a:pPr>
            <a:r>
              <a:rPr lang="en-IN" sz="2400" dirty="0"/>
              <a:t>To identify ransomware activity at an early stage. </a:t>
            </a:r>
          </a:p>
          <a:p>
            <a:pPr lvl="0" algn="just">
              <a:lnSpc>
                <a:spcPct val="200000"/>
              </a:lnSpc>
            </a:pPr>
            <a:r>
              <a:rPr lang="en-IN" sz="2400" dirty="0"/>
              <a:t>To prevent malicious file operations and generate security alerts.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FE74BC66-8B64-183C-F11C-FD50FFEF1A3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85B13D9B-BA1E-333A-05B0-79AE412F36E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3744" y="191626"/>
            <a:ext cx="1520112" cy="134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67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3F535-5D66-B90C-52DF-2A048C0AB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16462-F412-AB58-1573-7A0479307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22" y="307953"/>
            <a:ext cx="10382219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ACB9FE94-C171-565E-D50C-3B16D86FD13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B1E7C144-565B-0B2A-BEB2-8DDAA99FC77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3744" y="191626"/>
            <a:ext cx="1520112" cy="134288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A29DD5-2C2F-E034-EE03-B71625D5E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208088"/>
              </p:ext>
            </p:extLst>
          </p:nvPr>
        </p:nvGraphicFramePr>
        <p:xfrm>
          <a:off x="648182" y="1332616"/>
          <a:ext cx="10955376" cy="5242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72466">
                  <a:extLst>
                    <a:ext uri="{9D8B030D-6E8A-4147-A177-3AD203B41FA5}">
                      <a16:colId xmlns:a16="http://schemas.microsoft.com/office/drawing/2014/main" val="2041929311"/>
                    </a:ext>
                  </a:extLst>
                </a:gridCol>
                <a:gridCol w="1358342">
                  <a:extLst>
                    <a:ext uri="{9D8B030D-6E8A-4147-A177-3AD203B41FA5}">
                      <a16:colId xmlns:a16="http://schemas.microsoft.com/office/drawing/2014/main" val="2030215040"/>
                    </a:ext>
                  </a:extLst>
                </a:gridCol>
                <a:gridCol w="2912284">
                  <a:extLst>
                    <a:ext uri="{9D8B030D-6E8A-4147-A177-3AD203B41FA5}">
                      <a16:colId xmlns:a16="http://schemas.microsoft.com/office/drawing/2014/main" val="983960065"/>
                    </a:ext>
                  </a:extLst>
                </a:gridCol>
                <a:gridCol w="2912284">
                  <a:extLst>
                    <a:ext uri="{9D8B030D-6E8A-4147-A177-3AD203B41FA5}">
                      <a16:colId xmlns:a16="http://schemas.microsoft.com/office/drawing/2014/main" val="1521091903"/>
                    </a:ext>
                  </a:extLst>
                </a:gridCol>
              </a:tblGrid>
              <a:tr h="398700">
                <a:tc>
                  <a:txBody>
                    <a:bodyPr/>
                    <a:lstStyle/>
                    <a:p>
                      <a:r>
                        <a:rPr lang="en-IN" sz="2800" b="1" dirty="0"/>
                        <a:t>Author / Study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 dirty="0"/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Key Finding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Limitations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17289245"/>
                  </a:ext>
                </a:extLst>
              </a:tr>
              <a:tr h="1196100">
                <a:tc>
                  <a:txBody>
                    <a:bodyPr/>
                    <a:lstStyle/>
                    <a:p>
                      <a:r>
                        <a:rPr lang="en-IN" dirty="0"/>
                        <a:t>Alshaikh et al. – Cryptographic Ransomware Encryption Detection: Surve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Identified file-system activity, I/O monitoring, and system/API calls as important techniques for detecting ransomware encryption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Detection approaches may have difficulty adapting to new ransomware </a:t>
                      </a:r>
                      <a:r>
                        <a:rPr lang="en-IN" dirty="0" err="1"/>
                        <a:t>behaviors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370587"/>
                  </a:ext>
                </a:extLst>
              </a:tr>
              <a:tr h="1007242">
                <a:tc>
                  <a:txBody>
                    <a:bodyPr/>
                    <a:lstStyle/>
                    <a:p>
                      <a:r>
                        <a:rPr lang="en-IN" dirty="0"/>
                        <a:t>Chew et al. – Real-Time System Call-Based Ransomware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Proposed real-time ransomware detection by </a:t>
                      </a:r>
                      <a:r>
                        <a:rPr lang="en-IN" dirty="0" err="1"/>
                        <a:t>analyzing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behavioral</a:t>
                      </a:r>
                      <a:r>
                        <a:rPr lang="en-IN" dirty="0"/>
                        <a:t> patterns from system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System-call monitoring can introduce processing overhead and may depend on platform-specific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24853"/>
                  </a:ext>
                </a:extLst>
              </a:tr>
              <a:tr h="1007242">
                <a:tc>
                  <a:txBody>
                    <a:bodyPr/>
                    <a:lstStyle/>
                    <a:p>
                      <a:r>
                        <a:rPr lang="en-IN" dirty="0"/>
                        <a:t>Lightweight and Robust Ransomware Detection Using </a:t>
                      </a:r>
                      <a:r>
                        <a:rPr lang="en-IN" dirty="0" err="1"/>
                        <a:t>Behavioral</a:t>
                      </a:r>
                      <a:r>
                        <a:rPr lang="en-IN" dirty="0"/>
                        <a:t>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Used </a:t>
                      </a:r>
                      <a:r>
                        <a:rPr lang="en-IN" dirty="0" err="1"/>
                        <a:t>behavioral</a:t>
                      </a:r>
                      <a:r>
                        <a:rPr lang="en-IN" dirty="0"/>
                        <a:t> features such as file changes and encryption patterns to improve ransomware detection efficiency.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-based detection may require continuous monitoring and can increase system resource usage.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999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919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D792B-F571-E8B9-81F7-C77DA00E5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52F7D-22A6-76BE-B9E0-9A974D58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0062"/>
            <a:ext cx="10382219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88C36-E706-040F-AE47-2604CE5CD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82" y="1842944"/>
            <a:ext cx="11099157" cy="4642455"/>
          </a:xfrm>
        </p:spPr>
        <p:txBody>
          <a:bodyPr>
            <a:normAutofit fontScale="85000" lnSpcReduction="10000"/>
          </a:bodyPr>
          <a:lstStyle/>
          <a:p>
            <a:pPr lvl="0" algn="just">
              <a:lnSpc>
                <a:spcPct val="160000"/>
              </a:lnSpc>
            </a:pPr>
            <a:r>
              <a:rPr lang="en-IN" sz="2400" dirty="0"/>
              <a:t>A multi-layered system is proposed to detect and prevent ransomware attacks. </a:t>
            </a:r>
          </a:p>
          <a:p>
            <a:pPr lvl="0" algn="just">
              <a:lnSpc>
                <a:spcPct val="160000"/>
              </a:lnSpc>
            </a:pPr>
            <a:r>
              <a:rPr lang="en-IN" sz="2400" b="1" dirty="0"/>
              <a:t>File Activity Monitoring</a:t>
            </a:r>
            <a:r>
              <a:rPr lang="en-IN" sz="2400" dirty="0"/>
              <a:t> continuously tracks suspicious file operations and abnormal changes. </a:t>
            </a:r>
          </a:p>
          <a:p>
            <a:pPr lvl="0" algn="just">
              <a:lnSpc>
                <a:spcPct val="160000"/>
              </a:lnSpc>
            </a:pPr>
            <a:r>
              <a:rPr lang="en-IN" sz="2400" b="1" dirty="0"/>
              <a:t>Malware Signature Detection</a:t>
            </a:r>
            <a:r>
              <a:rPr lang="en-IN" sz="2400" dirty="0"/>
              <a:t> identifies known ransomware using predefined malware signatures. </a:t>
            </a:r>
          </a:p>
          <a:p>
            <a:pPr lvl="0" algn="just">
              <a:lnSpc>
                <a:spcPct val="170000"/>
              </a:lnSpc>
            </a:pPr>
            <a:r>
              <a:rPr lang="en-IN" sz="2400" b="1" dirty="0"/>
              <a:t>Encryption </a:t>
            </a:r>
            <a:r>
              <a:rPr lang="en-IN" sz="2400" b="1" dirty="0" err="1"/>
              <a:t>Behavior</a:t>
            </a:r>
            <a:r>
              <a:rPr lang="en-IN" sz="2400" b="1" dirty="0"/>
              <a:t> Analysis </a:t>
            </a:r>
            <a:r>
              <a:rPr lang="en-IN" sz="2400" dirty="0"/>
              <a:t>identifies rapid and abnormal encryption patterns across multiple files.</a:t>
            </a:r>
          </a:p>
          <a:p>
            <a:pPr lvl="0" algn="just">
              <a:lnSpc>
                <a:spcPct val="160000"/>
              </a:lnSpc>
            </a:pPr>
            <a:r>
              <a:rPr lang="en-IN" sz="2400" dirty="0"/>
              <a:t>Detected ransomware activity triggers </a:t>
            </a:r>
            <a:r>
              <a:rPr lang="en-IN" sz="2400" b="1" dirty="0"/>
              <a:t>Threat Prevention</a:t>
            </a:r>
            <a:r>
              <a:rPr lang="en-IN" sz="2400" dirty="0"/>
              <a:t> to restrict further malicious file operations. </a:t>
            </a:r>
          </a:p>
          <a:p>
            <a:pPr lvl="0" algn="just">
              <a:lnSpc>
                <a:spcPct val="160000"/>
              </a:lnSpc>
            </a:pPr>
            <a:r>
              <a:rPr lang="en-IN" sz="2400" dirty="0"/>
              <a:t>Real-time alerts notify the user when suspicious or malicious activity is identified. </a:t>
            </a:r>
          </a:p>
          <a:p>
            <a:pPr lvl="0" algn="just">
              <a:lnSpc>
                <a:spcPct val="160000"/>
              </a:lnSpc>
            </a:pPr>
            <a:r>
              <a:rPr lang="en-IN" sz="2400" dirty="0"/>
              <a:t>The combined approach helps provide early detection and protection against ransomware attacks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B8BB2D44-8DC9-CF22-35E3-599F0E36B2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CD1CC3DE-441B-37FB-D09A-1E2EA4F4106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3744" y="191626"/>
            <a:ext cx="1520112" cy="134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20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27F37-C197-4058-37E9-3D63C30AC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1ECA-35DF-C6E0-8A1D-5FF89DA85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18" y="10068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DEF5E0-EDEB-495A-E0D5-6689827B9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647" y="1022684"/>
            <a:ext cx="8173410" cy="5564015"/>
          </a:xfrm>
          <a:prstGeom prst="rect">
            <a:avLst/>
          </a:prstGeom>
        </p:spPr>
      </p:pic>
      <p:pic>
        <p:nvPicPr>
          <p:cNvPr id="5" name="object 2">
            <a:extLst>
              <a:ext uri="{FF2B5EF4-FFF2-40B4-BE49-F238E27FC236}">
                <a16:creationId xmlns:a16="http://schemas.microsoft.com/office/drawing/2014/main" id="{96CB8EB1-7243-FD41-1FF0-A06B1EA78E6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26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11F5049D-03C9-074C-3393-81315F4E8A6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3744" y="191626"/>
            <a:ext cx="1520112" cy="13428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24775E-A198-13AB-D3D6-5A0096DDA65B}"/>
              </a:ext>
            </a:extLst>
          </p:cNvPr>
          <p:cNvSpPr txBox="1"/>
          <p:nvPr/>
        </p:nvSpPr>
        <p:spPr>
          <a:xfrm>
            <a:off x="1978749" y="6402033"/>
            <a:ext cx="937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1.1 SYSTEM ARCHTECTURE OF MALWARE DETECTION AND PREVENTION SYSTEM</a:t>
            </a:r>
          </a:p>
        </p:txBody>
      </p:sp>
    </p:spTree>
    <p:extLst>
      <p:ext uri="{BB962C8B-B14F-4D97-AF65-F5344CB8AC3E}">
        <p14:creationId xmlns:p14="http://schemas.microsoft.com/office/powerpoint/2010/main" val="313387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42BB-6B29-E6A7-6E7C-1D9A3599C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FILE ACTIVITY 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15F5E2-0DDB-A9A6-C96D-2ABC47144368}"/>
              </a:ext>
            </a:extLst>
          </p:cNvPr>
          <p:cNvSpPr txBox="1"/>
          <p:nvPr/>
        </p:nvSpPr>
        <p:spPr>
          <a:xfrm>
            <a:off x="1002890" y="2015613"/>
            <a:ext cx="8956170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This module continuously monitors file operations performed within the system.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File creation, modification, deletion, and renaming activities are tracked.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The frequency and pattern of file operations are </a:t>
            </a:r>
            <a:r>
              <a:rPr lang="en-IN" sz="2000" dirty="0" err="1"/>
              <a:t>analyzed</a:t>
            </a:r>
            <a:r>
              <a:rPr lang="en-IN" sz="2000" dirty="0"/>
              <a:t>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Rapid or abnormal changes across multiple files are identified as suspicious.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Suspicious file activity is forwarded to the detection stage for further analysis.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Early identification of unusual activity helps reduce the impact of ransomware</a:t>
            </a:r>
          </a:p>
          <a:p>
            <a:endParaRPr lang="en-IN" dirty="0"/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37592537-948E-0C8C-C7C9-D4379A6C94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3973" y="221650"/>
            <a:ext cx="1209469" cy="1116172"/>
          </a:xfrm>
          <a:prstGeom prst="rect">
            <a:avLst/>
          </a:prstGeom>
        </p:spPr>
      </p:pic>
      <p:pic>
        <p:nvPicPr>
          <p:cNvPr id="15" name="object 2">
            <a:extLst>
              <a:ext uri="{FF2B5EF4-FFF2-40B4-BE49-F238E27FC236}">
                <a16:creationId xmlns:a16="http://schemas.microsoft.com/office/drawing/2014/main" id="{930546B4-1C5E-322A-C41D-1B95544D2A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221650"/>
            <a:ext cx="974141" cy="123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578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6FB88-E179-3CD6-8867-45DEBB242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MALWARE SIGNATURE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51DB0-336E-D402-032B-6DEB3B2D8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422" y="2141537"/>
            <a:ext cx="10515600" cy="4351338"/>
          </a:xfrm>
        </p:spPr>
        <p:txBody>
          <a:bodyPr>
            <a:normAutofit fontScale="92500"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This module detects known ransomware using predefined malware signatures.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Suspicious files or processes are </a:t>
            </a:r>
            <a:r>
              <a:rPr lang="en-IN" sz="2400" dirty="0" err="1"/>
              <a:t>analyzed</a:t>
            </a:r>
            <a:r>
              <a:rPr lang="en-IN" sz="2400" dirty="0"/>
              <a:t> for identifiable malicious characteristics.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Extracted characteristics are compared with the available signature database.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A matching signature indicates a known malware threat.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Detected threats are classified and forwarded to the prevention mechanism.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Signature-based detection provides fast identification of previously known ransomware.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A69D13D8-CCD5-F3BA-BB49-2C6F818860E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221650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1A42BEAD-E50B-CDD3-7A63-A42B00B79B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3973" y="221650"/>
            <a:ext cx="1209469" cy="111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54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E59E6-6653-588A-E236-493818208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1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ENCRYPTION BEHAVIOUR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E5AA8-DF99-12A8-83D2-369942B1B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0257"/>
            <a:ext cx="10515600" cy="4351338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This module </a:t>
            </a:r>
            <a:r>
              <a:rPr lang="en-IN" sz="2400" dirty="0" err="1"/>
              <a:t>analyzes</a:t>
            </a:r>
            <a:r>
              <a:rPr lang="en-IN" sz="2400" dirty="0"/>
              <a:t> abnormal encryption </a:t>
            </a:r>
            <a:r>
              <a:rPr lang="en-IN" sz="2400" dirty="0" err="1"/>
              <a:t>behavior</a:t>
            </a:r>
            <a:r>
              <a:rPr lang="en-IN" sz="2400" dirty="0"/>
              <a:t> associated with ransomware.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The system monitors rapid encryption and large-scale file modifications.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Multiple file encryption activities within a short period are treated as suspicious.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Detected ransomware-like </a:t>
            </a:r>
            <a:r>
              <a:rPr lang="en-IN" sz="2400" dirty="0" err="1"/>
              <a:t>behavior</a:t>
            </a:r>
            <a:r>
              <a:rPr lang="en-IN" sz="2400" dirty="0"/>
              <a:t> is evaluated by the threat detection mechanism.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Malicious activity is restricted to prevent further file modification.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FE24A712-4873-DEB1-C523-E1DFFA47B4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221650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B8636FC4-82EB-B3F0-69FF-CF22023CE6E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3973" y="221650"/>
            <a:ext cx="1209469" cy="111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374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0D43-EB5B-92DF-1900-99F46DAFC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D446-9F4E-B131-A35C-0682ABCE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1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0F138-A108-9F18-13F1-C76688797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270000"/>
            <a:ext cx="8170333" cy="57234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u="sng" dirty="0"/>
              <a:t>Core Detection — SHA-256 &amp; Signature Matching :</a:t>
            </a:r>
          </a:p>
          <a:p>
            <a:pPr marL="0" indent="0">
              <a:buNone/>
            </a:pPr>
            <a:r>
              <a:rPr lang="en-IN" sz="1800" dirty="0"/>
              <a:t>def </a:t>
            </a:r>
            <a:r>
              <a:rPr lang="en-IN" sz="1800" dirty="0" err="1"/>
              <a:t>calculate_hash</a:t>
            </a:r>
            <a:r>
              <a:rPr lang="en-IN" sz="1800" dirty="0"/>
              <a:t>(</a:t>
            </a:r>
            <a:r>
              <a:rPr lang="en-IN" sz="1800" dirty="0" err="1"/>
              <a:t>file_path</a:t>
            </a:r>
            <a:r>
              <a:rPr lang="en-IN" sz="1800" dirty="0"/>
              <a:t>):</a:t>
            </a:r>
          </a:p>
          <a:p>
            <a:pPr marL="0" indent="0">
              <a:buNone/>
            </a:pPr>
            <a:r>
              <a:rPr lang="en-IN" sz="1800" dirty="0"/>
              <a:t>    sha256 = hashlib.sha256()</a:t>
            </a:r>
          </a:p>
          <a:p>
            <a:pPr marL="0" indent="0">
              <a:buNone/>
            </a:pPr>
            <a:r>
              <a:rPr lang="en-IN" sz="1800" dirty="0"/>
              <a:t>    with open(</a:t>
            </a:r>
            <a:r>
              <a:rPr lang="en-IN" sz="1800" dirty="0" err="1"/>
              <a:t>file_path</a:t>
            </a:r>
            <a:r>
              <a:rPr lang="en-IN" sz="1800" dirty="0"/>
              <a:t>, "</a:t>
            </a:r>
            <a:r>
              <a:rPr lang="en-IN" sz="1800" dirty="0" err="1"/>
              <a:t>rb</a:t>
            </a:r>
            <a:r>
              <a:rPr lang="en-IN" sz="1800" dirty="0"/>
              <a:t>") as file:</a:t>
            </a:r>
          </a:p>
          <a:p>
            <a:pPr marL="0" indent="0">
              <a:buNone/>
            </a:pPr>
            <a:r>
              <a:rPr lang="en-IN" sz="1800" dirty="0"/>
              <a:t>        while data := </a:t>
            </a:r>
            <a:r>
              <a:rPr lang="en-IN" sz="1800" dirty="0" err="1"/>
              <a:t>file.read</a:t>
            </a:r>
            <a:r>
              <a:rPr lang="en-IN" sz="1800" dirty="0"/>
              <a:t>(4096):</a:t>
            </a:r>
          </a:p>
          <a:p>
            <a:pPr marL="0" indent="0">
              <a:buNone/>
            </a:pPr>
            <a:r>
              <a:rPr lang="en-IN" sz="1800" dirty="0"/>
              <a:t>            sha256.update(data)</a:t>
            </a:r>
          </a:p>
          <a:p>
            <a:pPr marL="0" indent="0">
              <a:buNone/>
            </a:pPr>
            <a:r>
              <a:rPr lang="en-IN" sz="1800" dirty="0"/>
              <a:t>    return sha256.hexdigest()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def </a:t>
            </a:r>
            <a:r>
              <a:rPr lang="en-IN" sz="1800" dirty="0" err="1"/>
              <a:t>check_signature</a:t>
            </a:r>
            <a:r>
              <a:rPr lang="en-IN" sz="1800" dirty="0"/>
              <a:t>(</a:t>
            </a:r>
            <a:r>
              <a:rPr lang="en-IN" sz="1800" dirty="0" err="1"/>
              <a:t>file_path</a:t>
            </a:r>
            <a:r>
              <a:rPr lang="en-IN" sz="1800" dirty="0"/>
              <a:t>):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file_hash</a:t>
            </a:r>
            <a:r>
              <a:rPr lang="en-IN" sz="1800" dirty="0"/>
              <a:t> = </a:t>
            </a:r>
            <a:r>
              <a:rPr lang="en-IN" sz="1800" dirty="0" err="1"/>
              <a:t>calculate_hash</a:t>
            </a:r>
            <a:r>
              <a:rPr lang="en-IN" sz="1800" dirty="0"/>
              <a:t>(</a:t>
            </a:r>
            <a:r>
              <a:rPr lang="en-IN" sz="1800" dirty="0" err="1"/>
              <a:t>file_path</a:t>
            </a:r>
            <a:r>
              <a:rPr lang="en-IN" sz="1800" dirty="0"/>
              <a:t>)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cursor.execute</a:t>
            </a:r>
            <a:r>
              <a:rPr lang="en-IN" sz="1800" dirty="0"/>
              <a:t>(</a:t>
            </a:r>
          </a:p>
          <a:p>
            <a:pPr marL="0" indent="0">
              <a:buNone/>
            </a:pPr>
            <a:r>
              <a:rPr lang="en-IN" sz="1800" dirty="0"/>
              <a:t>        "SELECT </a:t>
            </a:r>
            <a:r>
              <a:rPr lang="en-IN" sz="1800" dirty="0" err="1"/>
              <a:t>threat_name</a:t>
            </a:r>
            <a:r>
              <a:rPr lang="en-IN" sz="1800" dirty="0"/>
              <a:t> FROM signatures WHERE </a:t>
            </a:r>
            <a:r>
              <a:rPr lang="en-IN" sz="1800" dirty="0" err="1"/>
              <a:t>file_hash</a:t>
            </a:r>
            <a:r>
              <a:rPr lang="en-IN" sz="1800" dirty="0"/>
              <a:t> = ?",</a:t>
            </a:r>
          </a:p>
          <a:p>
            <a:pPr marL="0" indent="0">
              <a:buNone/>
            </a:pPr>
            <a:r>
              <a:rPr lang="en-IN" sz="1800" dirty="0"/>
              <a:t>        (</a:t>
            </a:r>
            <a:r>
              <a:rPr lang="en-IN" sz="1800" dirty="0" err="1"/>
              <a:t>file_hash</a:t>
            </a:r>
            <a:r>
              <a:rPr lang="en-IN" sz="1800" dirty="0"/>
              <a:t>,)</a:t>
            </a:r>
          </a:p>
          <a:p>
            <a:pPr marL="0" indent="0">
              <a:buNone/>
            </a:pPr>
            <a:r>
              <a:rPr lang="en-IN" sz="1800" dirty="0"/>
              <a:t>    )</a:t>
            </a:r>
          </a:p>
          <a:p>
            <a:pPr marL="0" indent="0">
              <a:buNone/>
            </a:pPr>
            <a:r>
              <a:rPr lang="en-IN" sz="1800" dirty="0"/>
              <a:t>    return </a:t>
            </a:r>
            <a:r>
              <a:rPr lang="en-IN" sz="1800" dirty="0" err="1"/>
              <a:t>cursor.fetchone</a:t>
            </a:r>
            <a:r>
              <a:rPr lang="en-IN" sz="1800" dirty="0"/>
              <a:t>()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DB4DF616-B3A0-91C8-2F7D-86D999C817F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221650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AEB7E8E7-D96C-E0EC-0550-EE0C931675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3973" y="221650"/>
            <a:ext cx="1209469" cy="111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28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8498B-A84A-B8F6-511E-E07410140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BA40-8625-6B28-75F5-09ACA593D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1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C8535-8083-BE61-047E-478758EA0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270000"/>
            <a:ext cx="8170333" cy="57234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u="sng" dirty="0" err="1"/>
              <a:t>Behavior</a:t>
            </a:r>
            <a:r>
              <a:rPr lang="en-IN" sz="1800" u="sng" dirty="0"/>
              <a:t> Analysis &amp; Threat Prevention : </a:t>
            </a:r>
          </a:p>
          <a:p>
            <a:pPr marL="0" indent="0">
              <a:buNone/>
            </a:pPr>
            <a:r>
              <a:rPr lang="en-US" sz="1800" dirty="0"/>
              <a:t>def </a:t>
            </a:r>
            <a:r>
              <a:rPr lang="en-US" sz="1800" dirty="0" err="1"/>
              <a:t>analyze_behavior</a:t>
            </a:r>
            <a:r>
              <a:rPr lang="en-US" sz="1800" dirty="0"/>
              <a:t>(</a:t>
            </a:r>
            <a:r>
              <a:rPr lang="en-US" sz="1800" dirty="0" err="1"/>
              <a:t>recent_events</a:t>
            </a:r>
            <a:r>
              <a:rPr lang="en-US" sz="1800" dirty="0"/>
              <a:t>):</a:t>
            </a:r>
          </a:p>
          <a:p>
            <a:pPr marL="0" indent="0">
              <a:buNone/>
            </a:pPr>
            <a:r>
              <a:rPr lang="en-US" sz="1800" dirty="0"/>
              <a:t>    score = 0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if </a:t>
            </a:r>
            <a:r>
              <a:rPr lang="en-US" sz="1800" dirty="0" err="1"/>
              <a:t>len</a:t>
            </a:r>
            <a:r>
              <a:rPr lang="en-US" sz="1800" dirty="0"/>
              <a:t>(</a:t>
            </a:r>
            <a:r>
              <a:rPr lang="en-US" sz="1800" dirty="0" err="1"/>
              <a:t>recent_events</a:t>
            </a:r>
            <a:r>
              <a:rPr lang="en-US" sz="1800" dirty="0"/>
              <a:t>) &gt;= 10: score += 30</a:t>
            </a:r>
          </a:p>
          <a:p>
            <a:pPr marL="0" indent="0">
              <a:buNone/>
            </a:pPr>
            <a:r>
              <a:rPr lang="en-US" sz="1800" dirty="0"/>
              <a:t>    if </a:t>
            </a:r>
            <a:r>
              <a:rPr lang="en-US" sz="1800" dirty="0" err="1"/>
              <a:t>monitor.modified</a:t>
            </a:r>
            <a:r>
              <a:rPr lang="en-US" sz="1800" dirty="0"/>
              <a:t> &gt;= 10: score += 20</a:t>
            </a:r>
          </a:p>
          <a:p>
            <a:pPr marL="0" indent="0">
              <a:buNone/>
            </a:pPr>
            <a:r>
              <a:rPr lang="en-US" sz="1800" dirty="0"/>
              <a:t>    if </a:t>
            </a:r>
            <a:r>
              <a:rPr lang="en-US" sz="1800" dirty="0" err="1"/>
              <a:t>monitor.created</a:t>
            </a:r>
            <a:r>
              <a:rPr lang="en-US" sz="1800" dirty="0"/>
              <a:t> &gt;= 5: score += 10</a:t>
            </a:r>
          </a:p>
          <a:p>
            <a:pPr marL="0" indent="0">
              <a:buNone/>
            </a:pPr>
            <a:r>
              <a:rPr lang="en-US" sz="1800" dirty="0"/>
              <a:t>    if </a:t>
            </a:r>
            <a:r>
              <a:rPr lang="en-US" sz="1800" dirty="0" err="1"/>
              <a:t>monitor.renamed</a:t>
            </a:r>
            <a:r>
              <a:rPr lang="en-US" sz="1800" dirty="0"/>
              <a:t> &gt;= 5: score += 10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return min(score, 100)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if score &gt;= 70: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threat_label.config</a:t>
            </a:r>
            <a:r>
              <a:rPr lang="en-US" sz="1800" dirty="0"/>
              <a:t>(text="Threat Level: CRITICAL")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trigger_prevention</a:t>
            </a:r>
            <a:r>
              <a:rPr lang="en-US" sz="1800" dirty="0"/>
              <a:t>("Ransomware-like activity", score)</a:t>
            </a:r>
            <a:endParaRPr lang="en-IN" sz="1800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F0A19AF2-4D1E-4FC1-6ACE-968F78C45B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221650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7E9784FF-33E1-AA43-26E3-BCAD1C1C702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3973" y="221650"/>
            <a:ext cx="1209469" cy="111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95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8A0D64-5D4A-D382-0CA9-AF6B46AAFDC3}"/>
              </a:ext>
            </a:extLst>
          </p:cNvPr>
          <p:cNvSpPr txBox="1"/>
          <p:nvPr/>
        </p:nvSpPr>
        <p:spPr>
          <a:xfrm>
            <a:off x="3028709" y="6314520"/>
            <a:ext cx="613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1.2  RANSOMWARE DETECTION AND PREVENTION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A2D67F-AB01-1826-002D-6F4A9664C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868" y="358814"/>
            <a:ext cx="7674016" cy="575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45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1D64A9-7236-7951-389C-F29D8AC0A9EF}"/>
              </a:ext>
            </a:extLst>
          </p:cNvPr>
          <p:cNvSpPr txBox="1"/>
          <p:nvPr/>
        </p:nvSpPr>
        <p:spPr>
          <a:xfrm>
            <a:off x="4537275" y="6354501"/>
            <a:ext cx="5474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1.3 SECURITY DASHBOARD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5ED9B8-8FA2-306F-DABC-6265A1623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072" y="208345"/>
            <a:ext cx="6621855" cy="603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32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2C57D-F79C-8122-CDE0-7EBA1EDEB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1E1D-0205-DBF2-C0DE-196E29208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5B3BD-6E3C-7FFE-89AA-A3B14A7C6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760" y="1776412"/>
            <a:ext cx="10996479" cy="4716463"/>
          </a:xfrm>
        </p:spPr>
        <p:txBody>
          <a:bodyPr>
            <a:normAutofit fontScale="92500" lnSpcReduction="20000"/>
          </a:bodyPr>
          <a:lstStyle/>
          <a:p>
            <a:pPr lvl="0" algn="just">
              <a:lnSpc>
                <a:spcPct val="160000"/>
              </a:lnSpc>
            </a:pPr>
            <a:r>
              <a:rPr lang="en-IN" sz="2400" dirty="0"/>
              <a:t>The system successfully monitors file activities and identifies suspicious file operations. </a:t>
            </a:r>
          </a:p>
          <a:p>
            <a:pPr lvl="0" algn="just">
              <a:lnSpc>
                <a:spcPct val="160000"/>
              </a:lnSpc>
            </a:pPr>
            <a:r>
              <a:rPr lang="en-IN" sz="2400" dirty="0"/>
              <a:t>Known ransomware threats are detected using malware signature analysis. </a:t>
            </a:r>
          </a:p>
          <a:p>
            <a:pPr lvl="0" algn="just">
              <a:lnSpc>
                <a:spcPct val="160000"/>
              </a:lnSpc>
            </a:pPr>
            <a:r>
              <a:rPr lang="en-IN" sz="2400" dirty="0"/>
              <a:t>Abnormal encryption </a:t>
            </a:r>
            <a:r>
              <a:rPr lang="en-IN" sz="2400" dirty="0" err="1"/>
              <a:t>behavior</a:t>
            </a:r>
            <a:r>
              <a:rPr lang="en-IN" sz="2400" dirty="0"/>
              <a:t> across multiple files is identified as a potential ransomware attack. </a:t>
            </a:r>
          </a:p>
          <a:p>
            <a:pPr lvl="0" algn="just">
              <a:lnSpc>
                <a:spcPct val="160000"/>
              </a:lnSpc>
            </a:pPr>
            <a:r>
              <a:rPr lang="en-IN" sz="2400" dirty="0"/>
              <a:t>Detected threats trigger prevention measures to restrict further malicious file activity. </a:t>
            </a:r>
          </a:p>
          <a:p>
            <a:pPr lvl="0" algn="just">
              <a:lnSpc>
                <a:spcPct val="160000"/>
              </a:lnSpc>
            </a:pPr>
            <a:r>
              <a:rPr lang="en-IN" sz="2400" dirty="0"/>
              <a:t>Real-time alerts provide immediate notification when suspicious activity is detected. </a:t>
            </a:r>
          </a:p>
          <a:p>
            <a:pPr lvl="0" algn="just">
              <a:lnSpc>
                <a:spcPct val="160000"/>
              </a:lnSpc>
            </a:pPr>
            <a:r>
              <a:rPr lang="en-IN" sz="2400" dirty="0"/>
              <a:t>The combined approach provides an effective layer of protection against ransomware attacks.</a:t>
            </a:r>
          </a:p>
          <a:p>
            <a:pPr marL="0" lvl="0" indent="0" algn="just">
              <a:lnSpc>
                <a:spcPct val="150000"/>
              </a:lnSpc>
              <a:buNone/>
            </a:pP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D7E7C1A9-224C-DC98-37E5-52414D638C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221650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7700AFD5-124C-4097-C206-117D9302B9D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3973" y="221650"/>
            <a:ext cx="1209469" cy="111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26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EDF20-D62F-21A4-8D2C-DFF8B537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6E33E-CB61-A0CF-78B4-538623A87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7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STANDARDS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500BA555-C327-AEF9-ADD1-E5664C089D5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221650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E455A469-853E-E1FC-AB5D-1435308C3D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3973" y="221650"/>
            <a:ext cx="1209469" cy="1116172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7E012ED-DA41-8ECC-B7DA-0EE4C32BE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503" y="1337822"/>
            <a:ext cx="10515600" cy="4966960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IN" sz="2400" dirty="0"/>
              <a:t>➢ IEEE 830 – Software Requirements Specification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400" dirty="0"/>
              <a:t>➢ IEEE 1016 – Software Design Description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400" dirty="0"/>
              <a:t>➢ IEEE 1471 – System Architecture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400" dirty="0"/>
              <a:t>➢ IEEE 610 – Software Engineering Terminology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400" dirty="0"/>
              <a:t>➢ IEEE 829 – Software Testing Documentation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400" dirty="0"/>
              <a:t>➢ IEEE 29148 – Requirements Engineering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400" dirty="0"/>
              <a:t>➢ IEEE 12207 – Software Life Cycle Processes</a:t>
            </a:r>
          </a:p>
        </p:txBody>
      </p:sp>
    </p:spTree>
    <p:extLst>
      <p:ext uri="{BB962C8B-B14F-4D97-AF65-F5344CB8AC3E}">
        <p14:creationId xmlns:p14="http://schemas.microsoft.com/office/powerpoint/2010/main" val="2479155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DCD9E-4920-CE79-48AA-B89E429DC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ED492-EAA3-4F0E-30CC-A9EE44BC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7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9AD9862B-914A-13B0-4D26-2924FFFDAEF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221650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6C5D0014-42FE-8D48-9799-846CC61397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3973" y="221650"/>
            <a:ext cx="1209469" cy="1116172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132A871-DDC7-27B1-1EED-4AB9C468F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503" y="1337822"/>
            <a:ext cx="10515600" cy="4966960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/>
              <a:t>Protects computers from malware and ransomware attacks.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/>
              <a:t>Monitors suspicious file activities in real time.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/>
              <a:t>Helps prevent unauthorized file encryption and data loss.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/>
              <a:t>Provides real-time alerts about detected threats.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/>
              <a:t>Isolates affected files or processes to prevent further damage.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/>
              <a:t>Helps organizations maintain system and data security.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/>
              <a:t>Supports system administrators in identifying and responding to threats quickly.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90785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2C60C-3DDF-229E-3C68-D7CE45B5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298B1-3A39-7600-D8EC-17D60538A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7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B06D479C-2262-D36B-9975-9ACA2EE761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221650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D4EC32FB-8EEB-1BD2-703F-0D52CCFEAD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3973" y="221650"/>
            <a:ext cx="1209469" cy="1116172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B6FE332-7350-946E-8160-6D8B983AA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503" y="1337822"/>
            <a:ext cx="10515600" cy="4966960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/>
              <a:t>The system provides a multi-layered approach to ransomware detection and prevention.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/>
              <a:t>File activity monitoring helps identify suspicious operations.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/>
              <a:t>Malware signature detection identifies known ransomware threats.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/>
              <a:t>Encryption </a:t>
            </a:r>
            <a:r>
              <a:rPr lang="en-IN" sz="2400" dirty="0" err="1"/>
              <a:t>behavior</a:t>
            </a:r>
            <a:r>
              <a:rPr lang="en-IN" sz="2400" dirty="0"/>
              <a:t> analysis helps detect ransomware-like activity.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/>
              <a:t>Threat prevention reduces the possibility of further file damage.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/>
              <a:t>The system provides an effective and practical approach for improving data security against ransomware attacks</a:t>
            </a:r>
          </a:p>
        </p:txBody>
      </p:sp>
    </p:spTree>
    <p:extLst>
      <p:ext uri="{BB962C8B-B14F-4D97-AF65-F5344CB8AC3E}">
        <p14:creationId xmlns:p14="http://schemas.microsoft.com/office/powerpoint/2010/main" val="1972351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26788-397F-70DE-0AD7-83A88910C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0E19-AB21-F327-1299-8218B127D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7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12D546BF-4E4E-F467-A7C1-C00EAE72A97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221650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E8E7B2F4-A960-91D8-3006-BEAD49175DE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3973" y="221650"/>
            <a:ext cx="1209469" cy="1116172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DFEDB17-9F40-ACF3-207A-F9B9CB498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503" y="1337822"/>
            <a:ext cx="10515600" cy="4966960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/>
              <a:t>Machine learning can be integrated to detect unknown ransomware variants. </a:t>
            </a:r>
          </a:p>
          <a:p>
            <a:pPr lvl="0" algn="just">
              <a:lnSpc>
                <a:spcPct val="200000"/>
              </a:lnSpc>
            </a:pPr>
            <a:r>
              <a:rPr lang="en-IN" sz="2400" dirty="0"/>
              <a:t>Advanced </a:t>
            </a:r>
            <a:r>
              <a:rPr lang="en-IN" sz="2400" dirty="0" err="1"/>
              <a:t>behavioral</a:t>
            </a:r>
            <a:r>
              <a:rPr lang="en-IN" sz="2400" dirty="0"/>
              <a:t> analysis can improve detection accuracy. </a:t>
            </a:r>
          </a:p>
          <a:p>
            <a:pPr lvl="0" algn="just">
              <a:lnSpc>
                <a:spcPct val="200000"/>
              </a:lnSpc>
            </a:pPr>
            <a:r>
              <a:rPr lang="en-IN" sz="2400" dirty="0"/>
              <a:t>Cloud-based threat intelligence can provide updated malware signatures. </a:t>
            </a:r>
          </a:p>
          <a:p>
            <a:pPr lvl="0" algn="just">
              <a:lnSpc>
                <a:spcPct val="200000"/>
              </a:lnSpc>
            </a:pPr>
            <a:r>
              <a:rPr lang="en-IN" sz="2400" dirty="0"/>
              <a:t>Automated file backup and recovery mechanisms can be added. </a:t>
            </a:r>
          </a:p>
          <a:p>
            <a:pPr lvl="0" algn="just">
              <a:lnSpc>
                <a:spcPct val="200000"/>
              </a:lnSpc>
            </a:pPr>
            <a:r>
              <a:rPr lang="en-IN" sz="2400" dirty="0"/>
              <a:t>The system can be extended for enterprise-level ransomware protection. </a:t>
            </a:r>
          </a:p>
          <a:p>
            <a:pPr lvl="0" algn="just">
              <a:lnSpc>
                <a:spcPct val="200000"/>
              </a:lnSpc>
            </a:pPr>
            <a:r>
              <a:rPr lang="en-IN" sz="2400" dirty="0"/>
              <a:t>Real-time monitoring and reporting can be enhanced for faster threat response.</a:t>
            </a:r>
          </a:p>
        </p:txBody>
      </p:sp>
    </p:spTree>
    <p:extLst>
      <p:ext uri="{BB962C8B-B14F-4D97-AF65-F5344CB8AC3E}">
        <p14:creationId xmlns:p14="http://schemas.microsoft.com/office/powerpoint/2010/main" val="3092681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48504-2135-D5AE-49AE-8D31D384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311AE-9B19-967C-9DE0-11B1B9D8A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7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334E947A-1967-8F36-FB40-C55625901C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221650"/>
            <a:ext cx="974141" cy="1234619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BA34C0C4-11F7-82B3-13A7-E9BD2B4587A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3973" y="221650"/>
            <a:ext cx="1209469" cy="1116172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7A5A882-6252-E710-2A53-B205A8A6D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503" y="1337822"/>
            <a:ext cx="10515600" cy="4966960"/>
          </a:xfrm>
        </p:spPr>
        <p:txBody>
          <a:bodyPr>
            <a:normAutofit fontScale="92500"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IN" sz="2400" dirty="0"/>
              <a:t>CISA. (2025). </a:t>
            </a:r>
            <a:r>
              <a:rPr lang="en-IN" sz="2400" i="1" dirty="0" err="1"/>
              <a:t>StopRansomware</a:t>
            </a:r>
            <a:r>
              <a:rPr lang="en-IN" sz="2400" i="1" dirty="0"/>
              <a:t> Guide: Ransomware Prevention and Response.</a:t>
            </a:r>
            <a:r>
              <a:rPr lang="en-IN" sz="2400" dirty="0"/>
              <a:t> Cybersecurity and Infrastructure Security Agency.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/>
              <a:t>MITRE ATT&amp;CK. (2025). </a:t>
            </a:r>
            <a:r>
              <a:rPr lang="en-IN" sz="2400" i="1" dirty="0"/>
              <a:t>Data Encrypted for Impact (T1486).</a:t>
            </a:r>
            <a:r>
              <a:rPr lang="en-IN" sz="2400" dirty="0"/>
              <a:t> MITRE Corporation.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/>
              <a:t>Microsoft Security. (2025). </a:t>
            </a:r>
            <a:r>
              <a:rPr lang="en-IN" sz="2400" i="1" dirty="0"/>
              <a:t>Ransomware Protection and Prevention.</a:t>
            </a:r>
            <a:r>
              <a:rPr lang="en-IN" sz="2400" dirty="0"/>
              <a:t> Microsoft.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/>
              <a:t>IBM Security. (2024). </a:t>
            </a:r>
            <a:r>
              <a:rPr lang="en-IN" sz="2400" i="1" dirty="0"/>
              <a:t>What is Ransomware? Ransomware Detection, Prevention and Protection.</a:t>
            </a:r>
            <a:r>
              <a:rPr lang="en-IN" sz="2400" dirty="0"/>
              <a:t>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 err="1"/>
              <a:t>Alhawi</a:t>
            </a:r>
            <a:r>
              <a:rPr lang="en-IN" sz="2400" dirty="0"/>
              <a:t>, M., Baldwin, J., &amp; </a:t>
            </a:r>
            <a:r>
              <a:rPr lang="en-IN" sz="2400" dirty="0" err="1"/>
              <a:t>Dehghantanha</a:t>
            </a:r>
            <a:r>
              <a:rPr lang="en-IN" sz="2400" dirty="0"/>
              <a:t>, A. (2018). </a:t>
            </a:r>
            <a:r>
              <a:rPr lang="en-IN" sz="2400" i="1" dirty="0"/>
              <a:t>Leveraging Machine Learning Techniques for Windows Ransomware Network Traffic Detection.</a:t>
            </a:r>
            <a:r>
              <a:rPr lang="en-IN" sz="2400" dirty="0"/>
              <a:t> Cyber Threat Intelligence.</a:t>
            </a:r>
          </a:p>
        </p:txBody>
      </p:sp>
    </p:spTree>
    <p:extLst>
      <p:ext uri="{BB962C8B-B14F-4D97-AF65-F5344CB8AC3E}">
        <p14:creationId xmlns:p14="http://schemas.microsoft.com/office/powerpoint/2010/main" val="2142952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15AAF1-5299-04E6-26B8-999E49CA6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525" y="1407555"/>
            <a:ext cx="6069159" cy="366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41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1367</Words>
  <Application>Microsoft Office PowerPoint</Application>
  <PresentationFormat>Widescreen</PresentationFormat>
  <Paragraphs>154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ABSTRACT</vt:lpstr>
      <vt:lpstr>INTRODUCTION</vt:lpstr>
      <vt:lpstr>PROBLEM STATEMENT</vt:lpstr>
      <vt:lpstr>OBJECTIVE</vt:lpstr>
      <vt:lpstr>LITERATURE REVIEW</vt:lpstr>
      <vt:lpstr>PROPOSED SYSTEM</vt:lpstr>
      <vt:lpstr>SYSTEM ARCHITECTURE</vt:lpstr>
      <vt:lpstr>MODULE 1: FILE ACTIVITY  MONITORING</vt:lpstr>
      <vt:lpstr>MODULE 2 – MALWARE SIGNATURE DETECTION</vt:lpstr>
      <vt:lpstr>MODULE 3 – ENCRYPTION BEHAVIOUR ANALYSIS</vt:lpstr>
      <vt:lpstr>SOFTWARE IMPLEMENTATION </vt:lpstr>
      <vt:lpstr>SOFTWARE IMPLEMENTATION </vt:lpstr>
      <vt:lpstr>PowerPoint Presentation</vt:lpstr>
      <vt:lpstr>PowerPoint Presentation</vt:lpstr>
      <vt:lpstr>RESULTS</vt:lpstr>
      <vt:lpstr>IEEE STANDARDS</vt:lpstr>
      <vt:lpstr>APPLICATIONS</vt:lpstr>
      <vt:lpstr>CONCLUSION</vt:lpstr>
      <vt:lpstr>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deepthi donkala</dc:creator>
  <cp:lastModifiedBy>Akshitha Ramesh</cp:lastModifiedBy>
  <cp:revision>3</cp:revision>
  <dcterms:created xsi:type="dcterms:W3CDTF">2026-07-28T17:25:58Z</dcterms:created>
  <dcterms:modified xsi:type="dcterms:W3CDTF">2026-08-31T05:31:14Z</dcterms:modified>
</cp:coreProperties>
</file>